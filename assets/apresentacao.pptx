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chive" charset="1" panose="02000506040000020004"/>
      <p:regular r:id="rId15"/>
    </p:embeddedFont>
    <p:embeddedFont>
      <p:font typeface="Genty" charset="1" panose="00000500000000000000"/>
      <p:regular r:id="rId16"/>
    </p:embeddedFont>
    <p:embeddedFont>
      <p:font typeface="Open Sauce" charset="1" panose="00000500000000000000"/>
      <p:regular r:id="rId17"/>
    </p:embeddedFont>
    <p:embeddedFont>
      <p:font typeface="Open Sauce Bold" charset="1" panose="00000800000000000000"/>
      <p:regular r:id="rId18"/>
    </p:embeddedFont>
    <p:embeddedFont>
      <p:font typeface="Open Sauce Bold Italics" charset="1" panose="00000800000000000000"/>
      <p:regular r:id="rId19"/>
    </p:embeddedFont>
    <p:embeddedFont>
      <p:font typeface="Open Sauce Italic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A0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82487" y="2490716"/>
            <a:ext cx="10137342" cy="9234197"/>
          </a:xfrm>
          <a:custGeom>
            <a:avLst/>
            <a:gdLst/>
            <a:ahLst/>
            <a:cxnLst/>
            <a:rect r="r" b="b" t="t" l="l"/>
            <a:pathLst>
              <a:path h="9234197" w="10137342">
                <a:moveTo>
                  <a:pt x="0" y="0"/>
                </a:moveTo>
                <a:lnTo>
                  <a:pt x="10137342" y="0"/>
                </a:lnTo>
                <a:lnTo>
                  <a:pt x="10137342" y="9234197"/>
                </a:lnTo>
                <a:lnTo>
                  <a:pt x="0" y="9234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99270">
            <a:off x="-2863082" y="-1569827"/>
            <a:ext cx="6556231" cy="6329743"/>
          </a:xfrm>
          <a:custGeom>
            <a:avLst/>
            <a:gdLst/>
            <a:ahLst/>
            <a:cxnLst/>
            <a:rect r="r" b="b" t="t" l="l"/>
            <a:pathLst>
              <a:path h="6329743" w="6556231">
                <a:moveTo>
                  <a:pt x="0" y="0"/>
                </a:moveTo>
                <a:lnTo>
                  <a:pt x="6556230" y="0"/>
                </a:lnTo>
                <a:lnTo>
                  <a:pt x="6556230" y="6329743"/>
                </a:lnTo>
                <a:lnTo>
                  <a:pt x="0" y="63297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512862">
            <a:off x="162253" y="5748460"/>
            <a:ext cx="3310306" cy="5584872"/>
          </a:xfrm>
          <a:custGeom>
            <a:avLst/>
            <a:gdLst/>
            <a:ahLst/>
            <a:cxnLst/>
            <a:rect r="r" b="b" t="t" l="l"/>
            <a:pathLst>
              <a:path h="5584872" w="3310306">
                <a:moveTo>
                  <a:pt x="0" y="0"/>
                </a:moveTo>
                <a:lnTo>
                  <a:pt x="3310306" y="0"/>
                </a:lnTo>
                <a:lnTo>
                  <a:pt x="3310306" y="5584872"/>
                </a:lnTo>
                <a:lnTo>
                  <a:pt x="0" y="5584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9178" y="3411318"/>
            <a:ext cx="15009644" cy="127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35"/>
              </a:lnSpc>
            </a:pPr>
            <a:r>
              <a:rPr lang="en-US" sz="7453">
                <a:solidFill>
                  <a:srgbClr val="381F1B"/>
                </a:solidFill>
                <a:latin typeface="Archive"/>
                <a:ea typeface="Archive"/>
                <a:cs typeface="Archive"/>
                <a:sym typeface="Archive"/>
              </a:rPr>
              <a:t>PERIOD TRACKER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3053" y="4430065"/>
            <a:ext cx="15441894" cy="230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88"/>
              </a:lnSpc>
            </a:pPr>
            <a:r>
              <a:rPr lang="en-US" sz="13491">
                <a:solidFill>
                  <a:srgbClr val="381F1B"/>
                </a:solidFill>
                <a:latin typeface="Genty"/>
                <a:ea typeface="Genty"/>
                <a:cs typeface="Genty"/>
                <a:sym typeface="Genty"/>
              </a:rPr>
              <a:t>em Pyhton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480729">
            <a:off x="13847006" y="-3073662"/>
            <a:ext cx="5091733" cy="5091733"/>
          </a:xfrm>
          <a:custGeom>
            <a:avLst/>
            <a:gdLst/>
            <a:ahLst/>
            <a:cxnLst/>
            <a:rect r="r" b="b" t="t" l="l"/>
            <a:pathLst>
              <a:path h="5091733" w="5091733">
                <a:moveTo>
                  <a:pt x="0" y="0"/>
                </a:moveTo>
                <a:lnTo>
                  <a:pt x="5091733" y="0"/>
                </a:lnTo>
                <a:lnTo>
                  <a:pt x="5091733" y="5091733"/>
                </a:lnTo>
                <a:lnTo>
                  <a:pt x="0" y="50917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13913" y="8792387"/>
            <a:ext cx="4875742" cy="107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20"/>
              </a:lnSpc>
            </a:pPr>
            <a:r>
              <a:rPr lang="en-US" sz="1715">
                <a:solidFill>
                  <a:srgbClr val="381F1B"/>
                </a:solidFill>
                <a:latin typeface="Open Sauce"/>
                <a:ea typeface="Open Sauce"/>
                <a:cs typeface="Open Sauce"/>
                <a:sym typeface="Open Sauce"/>
              </a:rPr>
              <a:t>Projeto de programação em Python (IEFP)</a:t>
            </a:r>
          </a:p>
          <a:p>
            <a:pPr algn="just">
              <a:lnSpc>
                <a:spcPts val="2915"/>
              </a:lnSpc>
            </a:pPr>
            <a:r>
              <a:rPr lang="en-US" sz="1715">
                <a:solidFill>
                  <a:srgbClr val="381F1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715">
                <a:solidFill>
                  <a:srgbClr val="381F1B"/>
                </a:solidFill>
                <a:latin typeface="Open Sauce"/>
                <a:ea typeface="Open Sauce"/>
                <a:cs typeface="Open Sauce"/>
                <a:sym typeface="Open Sauce"/>
              </a:rPr>
              <a:t>Autora: Carmen Gomes</a:t>
            </a:r>
          </a:p>
          <a:p>
            <a:pPr algn="just">
              <a:lnSpc>
                <a:spcPts val="1920"/>
              </a:lnSpc>
            </a:pPr>
            <a:r>
              <a:rPr lang="en-US" sz="1715">
                <a:solidFill>
                  <a:srgbClr val="381F1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just">
              <a:lnSpc>
                <a:spcPts val="192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67564"/>
            <a:ext cx="14826746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381F1B"/>
                </a:solidFill>
                <a:latin typeface="Genty"/>
                <a:ea typeface="Genty"/>
                <a:cs typeface="Genty"/>
                <a:sym typeface="Genty"/>
              </a:rPr>
              <a:t>A Ideia e o Diferencial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80097" y="3856604"/>
            <a:ext cx="11112775" cy="529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A sua origem parte da si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mplificação de uma ideia pessoal para o curso do IEFP.</a:t>
            </a:r>
          </a:p>
          <a:p>
            <a:pPr algn="l">
              <a:lnSpc>
                <a:spcPts val="4249"/>
              </a:lnSpc>
            </a:pPr>
          </a:p>
          <a:p>
            <a:pPr algn="l">
              <a:lnSpc>
                <a:spcPts val="4249"/>
              </a:lnSpc>
            </a:pP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O </a:t>
            </a: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objetivo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? A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judar as utilizadoras a perceber o corpo sem a complexidade das apps comerciais.</a:t>
            </a:r>
          </a:p>
          <a:p>
            <a:pPr algn="l">
              <a:lnSpc>
                <a:spcPts val="4249"/>
              </a:lnSpc>
            </a:pPr>
          </a:p>
          <a:p>
            <a:pPr algn="l">
              <a:lnSpc>
                <a:spcPts val="4249"/>
              </a:lnSpc>
            </a:pP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Um dos pormenores também 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é o foco na </a:t>
            </a:r>
            <a:r>
              <a:rPr lang="en-US" b="true" sz="2499" i="true">
                <a:solidFill>
                  <a:srgbClr val="50353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Usabilidade, 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ter</a:t>
            </a:r>
            <a:r>
              <a:rPr lang="en-US" b="true" sz="2499" i="true">
                <a:solidFill>
                  <a:srgbClr val="50353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menus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 numéricos simples no terminal e perguntas inteligentes que não se repetem se a fase do ciclo já mudou.</a:t>
            </a:r>
          </a:p>
          <a:p>
            <a:pPr algn="l">
              <a:lnSpc>
                <a:spcPts val="424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666391" y="4193854"/>
            <a:ext cx="5299048" cy="7834613"/>
          </a:xfrm>
          <a:custGeom>
            <a:avLst/>
            <a:gdLst/>
            <a:ahLst/>
            <a:cxnLst/>
            <a:rect r="r" b="b" t="t" l="l"/>
            <a:pathLst>
              <a:path h="7834613" w="5299048">
                <a:moveTo>
                  <a:pt x="0" y="0"/>
                </a:moveTo>
                <a:lnTo>
                  <a:pt x="5299048" y="0"/>
                </a:lnTo>
                <a:lnTo>
                  <a:pt x="5299048" y="7834613"/>
                </a:lnTo>
                <a:lnTo>
                  <a:pt x="0" y="7834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06800" y="6977450"/>
            <a:ext cx="3469858" cy="2479371"/>
          </a:xfrm>
          <a:custGeom>
            <a:avLst/>
            <a:gdLst/>
            <a:ahLst/>
            <a:cxnLst/>
            <a:rect r="r" b="b" t="t" l="l"/>
            <a:pathLst>
              <a:path h="2479371" w="3469858">
                <a:moveTo>
                  <a:pt x="0" y="0"/>
                </a:moveTo>
                <a:lnTo>
                  <a:pt x="3469858" y="0"/>
                </a:lnTo>
                <a:lnTo>
                  <a:pt x="3469858" y="2479371"/>
                </a:lnTo>
                <a:lnTo>
                  <a:pt x="0" y="24793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67564"/>
            <a:ext cx="13999575" cy="279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381F1B"/>
                </a:solidFill>
                <a:latin typeface="Genty"/>
                <a:ea typeface="Genty"/>
                <a:cs typeface="Genty"/>
                <a:sym typeface="Genty"/>
              </a:rPr>
              <a:t>Arquitetura e Organização do Código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5058" y="4398025"/>
            <a:ext cx="11112775" cy="423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Estrutura Modular (Se</a:t>
            </a: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paração de Responsabilidades):</a:t>
            </a:r>
          </a:p>
          <a:p>
            <a:pPr algn="l" marL="1079499" indent="-359833" lvl="2">
              <a:lnSpc>
                <a:spcPts val="4249"/>
              </a:lnSpc>
              <a:buFont typeface="Arial"/>
              <a:buChar char="⚬"/>
            </a:pP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main.py: 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Operador central e loop contínuo do menu.</a:t>
            </a:r>
          </a:p>
          <a:p>
            <a:pPr algn="l" marL="1079499" indent="-359833" lvl="2">
              <a:lnSpc>
                <a:spcPts val="4249"/>
              </a:lnSpc>
              <a:buFont typeface="Arial"/>
              <a:buChar char="⚬"/>
            </a:pP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er_gravar.py: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 Persistência (leitura e escrita isolada no JSON).</a:t>
            </a:r>
          </a:p>
          <a:p>
            <a:pPr algn="l" marL="1079499" indent="-359833" lvl="2">
              <a:lnSpc>
                <a:spcPts val="4249"/>
              </a:lnSpc>
              <a:buFont typeface="Arial"/>
              <a:buChar char="⚬"/>
            </a:pP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ciclo.py: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 Regras das fases e resumos explicativos.</a:t>
            </a:r>
          </a:p>
          <a:p>
            <a:pPr algn="l" marL="1079499" indent="-359833" lvl="2">
              <a:lnSpc>
                <a:spcPts val="4249"/>
              </a:lnSpc>
              <a:buFont typeface="Arial"/>
              <a:buChar char="⚬"/>
            </a:pP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saude.py: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 Motor de regras de saúde e triagem por cores ANSI.</a:t>
            </a:r>
          </a:p>
          <a:p>
            <a:pPr algn="l">
              <a:lnSpc>
                <a:spcPts val="4249"/>
              </a:lnSpc>
            </a:pPr>
          </a:p>
          <a:p>
            <a:pPr algn="l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Ficheiros de Dados: 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dados_ciclo.json e medicos.json.</a:t>
            </a:r>
          </a:p>
          <a:p>
            <a:pPr algn="l">
              <a:lnSpc>
                <a:spcPts val="424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5F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5171" y="1214275"/>
            <a:ext cx="16857659" cy="1274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25"/>
              </a:lnSpc>
            </a:pPr>
            <a:r>
              <a:rPr lang="en-US" sz="7446">
                <a:solidFill>
                  <a:srgbClr val="EDE8EA"/>
                </a:solidFill>
                <a:latin typeface="Archive"/>
                <a:ea typeface="Archive"/>
                <a:cs typeface="Archive"/>
                <a:sym typeface="Archive"/>
              </a:rPr>
              <a:t>COMO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5171" y="2452342"/>
            <a:ext cx="16857659" cy="2310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70"/>
              </a:lnSpc>
            </a:pPr>
            <a:r>
              <a:rPr lang="en-US" sz="13478">
                <a:solidFill>
                  <a:srgbClr val="EDE8EA"/>
                </a:solidFill>
                <a:latin typeface="Genty"/>
                <a:ea typeface="Genty"/>
                <a:cs typeface="Genty"/>
                <a:sym typeface="Genty"/>
              </a:rPr>
              <a:t>Funciona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870925" y="5143500"/>
            <a:ext cx="10636556" cy="4177266"/>
          </a:xfrm>
          <a:custGeom>
            <a:avLst/>
            <a:gdLst/>
            <a:ahLst/>
            <a:cxnLst/>
            <a:rect r="r" b="b" t="t" l="l"/>
            <a:pathLst>
              <a:path h="4177266" w="10636556">
                <a:moveTo>
                  <a:pt x="0" y="0"/>
                </a:moveTo>
                <a:lnTo>
                  <a:pt x="10636556" y="0"/>
                </a:lnTo>
                <a:lnTo>
                  <a:pt x="10636556" y="4177266"/>
                </a:lnTo>
                <a:lnTo>
                  <a:pt x="0" y="4177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69815" y="4494535"/>
            <a:ext cx="5296434" cy="5296434"/>
          </a:xfrm>
          <a:custGeom>
            <a:avLst/>
            <a:gdLst/>
            <a:ahLst/>
            <a:cxnLst/>
            <a:rect r="r" b="b" t="t" l="l"/>
            <a:pathLst>
              <a:path h="5296434" w="5296434">
                <a:moveTo>
                  <a:pt x="0" y="0"/>
                </a:moveTo>
                <a:lnTo>
                  <a:pt x="5296434" y="0"/>
                </a:lnTo>
                <a:lnTo>
                  <a:pt x="5296434" y="5296434"/>
                </a:lnTo>
                <a:lnTo>
                  <a:pt x="0" y="5296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87843" y="4673297"/>
            <a:ext cx="5296434" cy="5296434"/>
          </a:xfrm>
          <a:custGeom>
            <a:avLst/>
            <a:gdLst/>
            <a:ahLst/>
            <a:cxnLst/>
            <a:rect r="r" b="b" t="t" l="l"/>
            <a:pathLst>
              <a:path h="5296434" w="5296434">
                <a:moveTo>
                  <a:pt x="0" y="0"/>
                </a:moveTo>
                <a:lnTo>
                  <a:pt x="5296433" y="0"/>
                </a:lnTo>
                <a:lnTo>
                  <a:pt x="5296433" y="5296434"/>
                </a:lnTo>
                <a:lnTo>
                  <a:pt x="0" y="5296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08346" y="958569"/>
            <a:ext cx="17281806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503530"/>
                </a:solidFill>
                <a:latin typeface="Genty"/>
                <a:ea typeface="Genty"/>
                <a:cs typeface="Genty"/>
                <a:sym typeface="Genty"/>
              </a:rPr>
              <a:t>O Fluxo Inicial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415412" y="2730657"/>
            <a:ext cx="6106662" cy="5595923"/>
          </a:xfrm>
          <a:custGeom>
            <a:avLst/>
            <a:gdLst/>
            <a:ahLst/>
            <a:cxnLst/>
            <a:rect r="r" b="b" t="t" l="l"/>
            <a:pathLst>
              <a:path h="5595923" w="6106662">
                <a:moveTo>
                  <a:pt x="0" y="0"/>
                </a:moveTo>
                <a:lnTo>
                  <a:pt x="6106662" y="0"/>
                </a:lnTo>
                <a:lnTo>
                  <a:pt x="6106662" y="5595923"/>
                </a:lnTo>
                <a:lnTo>
                  <a:pt x="0" y="5595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08346" y="2892425"/>
            <a:ext cx="9067288" cy="636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 qu</a:t>
            </a: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 acontece no ecrã: 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O programa dá as boas-vindas e deteta que o ficheiro dados_ciclo.json está vazio. </a:t>
            </a:r>
          </a:p>
          <a:p>
            <a:pPr algn="l">
              <a:lnSpc>
                <a:spcPts val="4249"/>
              </a:lnSpc>
            </a:pPr>
          </a:p>
          <a:p>
            <a:pPr algn="l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Ação do Utilizador: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 Introduz Nome, Idade e Data da última menstruação. </a:t>
            </a:r>
          </a:p>
          <a:p>
            <a:pPr algn="l">
              <a:lnSpc>
                <a:spcPts val="4249"/>
              </a:lnSpc>
            </a:pPr>
          </a:p>
          <a:p>
            <a:pPr algn="l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Bastidores Técnicos (ler_gravar.py):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 * A funçã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o inicializar_perfil valida os dados e guarda-os imediatamente no JSON. </a:t>
            </a:r>
          </a:p>
          <a:p>
            <a:pPr algn="l">
              <a:lnSpc>
                <a:spcPts val="4249"/>
              </a:lnSpc>
            </a:pPr>
          </a:p>
          <a:p>
            <a:pPr algn="l">
              <a:lnSpc>
                <a:spcPts val="424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612615" y="3528040"/>
            <a:ext cx="5138143" cy="6541617"/>
          </a:xfrm>
          <a:custGeom>
            <a:avLst/>
            <a:gdLst/>
            <a:ahLst/>
            <a:cxnLst/>
            <a:rect r="r" b="b" t="t" l="l"/>
            <a:pathLst>
              <a:path h="6541617" w="5138143">
                <a:moveTo>
                  <a:pt x="0" y="0"/>
                </a:moveTo>
                <a:lnTo>
                  <a:pt x="5138143" y="0"/>
                </a:lnTo>
                <a:lnTo>
                  <a:pt x="5138143" y="6541618"/>
                </a:lnTo>
                <a:lnTo>
                  <a:pt x="0" y="65416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DE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222291"/>
            <a:ext cx="14932683" cy="636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sz="2499">
                <a:solidFill>
                  <a:srgbClr val="381F1B"/>
                </a:solidFill>
                <a:latin typeface="Open Sauce"/>
                <a:ea typeface="Open Sauce"/>
                <a:cs typeface="Open Sauce"/>
                <a:sym typeface="Open Sauce"/>
              </a:rPr>
              <a:t>Um menu contínuo </a:t>
            </a:r>
            <a:r>
              <a:rPr lang="en-US" sz="2499" i="true">
                <a:solidFill>
                  <a:srgbClr val="381F1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(Loop while) </a:t>
            </a:r>
            <a:r>
              <a:rPr lang="en-US" sz="2499">
                <a:solidFill>
                  <a:srgbClr val="381F1B"/>
                </a:solidFill>
                <a:latin typeface="Open Sauce"/>
                <a:ea typeface="Open Sauce"/>
                <a:cs typeface="Open Sauce"/>
                <a:sym typeface="Open Sauce"/>
              </a:rPr>
              <a:t>permite registar vários dias seguidos de uma só vez, sem fechar a aplicação. </a:t>
            </a:r>
          </a:p>
          <a:p>
            <a:pPr algn="l">
              <a:lnSpc>
                <a:spcPts val="4249"/>
              </a:lnSpc>
            </a:pPr>
          </a:p>
          <a:p>
            <a:pPr algn="l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b="true" sz="2499">
                <a:solidFill>
                  <a:srgbClr val="381F1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Exemplo:</a:t>
            </a:r>
          </a:p>
          <a:p>
            <a:pPr algn="l" marL="1079499" indent="-359833" lvl="2">
              <a:lnSpc>
                <a:spcPts val="4249"/>
              </a:lnSpc>
              <a:buFont typeface="Arial"/>
              <a:buChar char="⚬"/>
            </a:pPr>
            <a:r>
              <a:rPr lang="en-US" sz="2499">
                <a:solidFill>
                  <a:srgbClr val="381F1B"/>
                </a:solidFill>
                <a:latin typeface="Open Sauce"/>
                <a:ea typeface="Open Sauce"/>
                <a:cs typeface="Open Sauce"/>
                <a:sym typeface="Open Sauce"/>
              </a:rPr>
              <a:t>No Dia 1, o programa pergunta obrigatoriamente se a utilizadora está menstruada. </a:t>
            </a:r>
          </a:p>
          <a:p>
            <a:pPr algn="l" marL="1079499" indent="-359833" lvl="2">
              <a:lnSpc>
                <a:spcPts val="4249"/>
              </a:lnSpc>
              <a:buFont typeface="Arial"/>
              <a:buChar char="⚬"/>
            </a:pPr>
            <a:r>
              <a:rPr lang="en-US" sz="2499">
                <a:solidFill>
                  <a:srgbClr val="381F1B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99">
                <a:solidFill>
                  <a:srgbClr val="381F1B"/>
                </a:solidFill>
                <a:latin typeface="Open Sauce"/>
                <a:ea typeface="Open Sauce"/>
                <a:cs typeface="Open Sauce"/>
                <a:sym typeface="Open Sauce"/>
              </a:rPr>
              <a:t>e no Dia 5 ela responder "Não", o programa guarda a transiçã</a:t>
            </a:r>
            <a:r>
              <a:rPr lang="en-US" sz="2499">
                <a:solidFill>
                  <a:srgbClr val="381F1B"/>
                </a:solidFill>
                <a:latin typeface="Open Sauce"/>
                <a:ea typeface="Open Sauce"/>
                <a:cs typeface="Open Sauce"/>
                <a:sym typeface="Open Sauce"/>
              </a:rPr>
              <a:t>o.</a:t>
            </a:r>
          </a:p>
          <a:p>
            <a:pPr algn="l" marL="1079499" indent="-359833" lvl="2">
              <a:lnSpc>
                <a:spcPts val="4249"/>
              </a:lnSpc>
              <a:buFont typeface="Arial"/>
              <a:buChar char="⚬"/>
            </a:pPr>
            <a:r>
              <a:rPr lang="en-US" sz="2499">
                <a:solidFill>
                  <a:srgbClr val="381F1B"/>
                </a:solidFill>
                <a:latin typeface="Open Sauce"/>
                <a:ea typeface="Open Sauce"/>
                <a:cs typeface="Open Sauce"/>
                <a:sym typeface="Open Sauce"/>
              </a:rPr>
              <a:t>No Dia 6, o programa usa o índice [-1] para espreitar o dia anterior no JSON. Como a fase já mudou, ele salta a pergunta automaticamente e vai direto para os sintomas gerais.</a:t>
            </a:r>
          </a:p>
          <a:p>
            <a:pPr algn="l">
              <a:lnSpc>
                <a:spcPts val="4249"/>
              </a:lnSpc>
            </a:pPr>
          </a:p>
          <a:p>
            <a:pPr algn="l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b="true" sz="2499">
                <a:solidFill>
                  <a:srgbClr val="381F1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Pedagogia: </a:t>
            </a:r>
            <a:r>
              <a:rPr lang="en-US" sz="2499">
                <a:solidFill>
                  <a:srgbClr val="381F1B"/>
                </a:solidFill>
                <a:latin typeface="Open Sauce"/>
                <a:ea typeface="Open Sauce"/>
                <a:cs typeface="Open Sauce"/>
                <a:sym typeface="Open Sauce"/>
              </a:rPr>
              <a:t>Antes das perguntas, o módulo ciclo.py exibe uma frase explicativa em azul </a:t>
            </a:r>
            <a:r>
              <a:rPr lang="en-US" sz="2499">
                <a:solidFill>
                  <a:srgbClr val="38B6FF"/>
                </a:solidFill>
                <a:latin typeface="Open Sauce"/>
                <a:ea typeface="Open Sauce"/>
                <a:cs typeface="Open Sauce"/>
                <a:sym typeface="Open Sauce"/>
              </a:rPr>
              <a:t>(\033[94m)</a:t>
            </a:r>
            <a:r>
              <a:rPr lang="en-US" sz="2499">
                <a:solidFill>
                  <a:srgbClr val="381F1B"/>
                </a:solidFill>
                <a:latin typeface="Open Sauce"/>
                <a:ea typeface="Open Sauce"/>
                <a:cs typeface="Open Sauce"/>
                <a:sym typeface="Open Sauce"/>
              </a:rPr>
              <a:t> sobre o estado do corpo naquela fase.</a:t>
            </a:r>
          </a:p>
          <a:p>
            <a:pPr algn="l">
              <a:lnSpc>
                <a:spcPts val="424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15265"/>
            <a:ext cx="17086293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503530"/>
                </a:solidFill>
                <a:latin typeface="Genty"/>
                <a:ea typeface="Genty"/>
                <a:cs typeface="Genty"/>
                <a:sym typeface="Genty"/>
              </a:rPr>
              <a:t>O Loop Diário 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36064"/>
            <a:ext cx="1685765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CB86A0"/>
                </a:solidFill>
                <a:latin typeface="Archive"/>
                <a:ea typeface="Archive"/>
                <a:cs typeface="Archive"/>
                <a:sym typeface="Archive"/>
              </a:rPr>
              <a:t>(O CORAÇÃO DO MAIN)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DE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959225"/>
            <a:ext cx="14932683" cy="583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 qu</a:t>
            </a: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 acontece no ecrã: 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O utilizador escolhe a "Opção 2: Ver Relatório de Saúde".</a:t>
            </a:r>
          </a:p>
          <a:p>
            <a:pPr algn="l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Parte Técnica (sau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de.py):</a:t>
            </a:r>
          </a:p>
          <a:p>
            <a:pPr algn="l" marL="1079499" indent="-359833" lvl="2">
              <a:lnSpc>
                <a:spcPts val="4249"/>
              </a:lnSpc>
              <a:buFont typeface="Arial"/>
              <a:buChar char="⚬"/>
            </a:pP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 programa faz uma análise do histórico na lista de registos do JSON.</a:t>
            </a:r>
          </a:p>
          <a:p>
            <a:pPr algn="l" marL="1079499" indent="-359833" lvl="2">
              <a:lnSpc>
                <a:spcPts val="4249"/>
              </a:lnSpc>
              <a:buFont typeface="Arial"/>
              <a:buChar char="⚬"/>
            </a:pP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Avalia os parâmetros através de uma árvore de decisã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o (if/elif).</a:t>
            </a:r>
          </a:p>
          <a:p>
            <a:pPr algn="l">
              <a:lnSpc>
                <a:spcPts val="4249"/>
              </a:lnSpc>
            </a:pPr>
          </a:p>
          <a:p>
            <a:pPr algn="l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Formatos de Alerta (Cores ANSI):</a:t>
            </a:r>
          </a:p>
          <a:p>
            <a:pPr algn="l" marL="1079499" indent="-359833" lvl="2">
              <a:lnSpc>
                <a:spcPts val="4249"/>
              </a:lnSpc>
              <a:buFont typeface="Arial"/>
              <a:buChar char="⚬"/>
            </a:pP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Verde: 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Ciclo dentro dos parâmetros normais.</a:t>
            </a:r>
          </a:p>
          <a:p>
            <a:pPr algn="l" marL="1079499" indent="-359833" lvl="2">
              <a:lnSpc>
                <a:spcPts val="4249"/>
              </a:lnSpc>
              <a:buFont typeface="Arial"/>
              <a:buChar char="⚬"/>
            </a:pP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Amarelo: 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Alerta moderado (ex: fluxo pesado persistente).</a:t>
            </a:r>
          </a:p>
          <a:p>
            <a:pPr algn="l" marL="1079499" indent="-359833" lvl="2">
              <a:lnSpc>
                <a:spcPts val="4249"/>
              </a:lnSpc>
              <a:buFont typeface="Arial"/>
              <a:buChar char="⚬"/>
            </a:pP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</a:t>
            </a: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ermelho: 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Alerta máximo (ex: menstruação prolongada &gt; 7 dias ou múltiplos dias com vómitos).</a:t>
            </a:r>
          </a:p>
          <a:p>
            <a:pPr algn="l">
              <a:lnSpc>
                <a:spcPts val="424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15265"/>
            <a:ext cx="13371543" cy="279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503530"/>
                </a:solidFill>
                <a:latin typeface="Genty"/>
                <a:ea typeface="Genty"/>
                <a:cs typeface="Genty"/>
                <a:sym typeface="Genty"/>
              </a:rPr>
              <a:t>Análise de Saúde e Alertas Visuais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DE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67564"/>
            <a:ext cx="16120141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503530"/>
                </a:solidFill>
                <a:latin typeface="Genty"/>
                <a:ea typeface="Genty"/>
                <a:cs typeface="Genty"/>
                <a:sym typeface="Genty"/>
              </a:rPr>
              <a:t>Recomendação Geográfica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34979" y="3555815"/>
            <a:ext cx="14316183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b="true" sz="2499">
                <a:solidFill>
                  <a:srgbClr val="5035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 que acontece no ecrã: 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O sistema deteta anomalias e suge</a:t>
            </a: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re especialidades. Pergunta pela localização (Lisboa/Porto) e exibe os contactos médicos. </a:t>
            </a:r>
          </a:p>
          <a:p>
            <a:pPr algn="l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sz="2499">
                <a:solidFill>
                  <a:srgbClr val="503530"/>
                </a:solidFill>
                <a:latin typeface="Open Sauce"/>
                <a:ea typeface="Open Sauce"/>
                <a:cs typeface="Open Sauce"/>
                <a:sym typeface="Open Sauce"/>
              </a:rPr>
              <a:t>Localização anexada permanentemente ao perfil no JSON para evitar perguntas redundantes futuras.</a:t>
            </a:r>
          </a:p>
          <a:p>
            <a:pPr algn="l">
              <a:lnSpc>
                <a:spcPts val="424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478839"/>
            <a:ext cx="1685765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CB86A0"/>
                </a:solidFill>
                <a:latin typeface="Archive"/>
                <a:ea typeface="Archive"/>
                <a:cs typeface="Archive"/>
                <a:sym typeface="Archive"/>
              </a:rPr>
              <a:t>(MEDICOS.JSON)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60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5355" y="1807375"/>
            <a:ext cx="9936030" cy="1677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38"/>
              </a:lnSpc>
            </a:pPr>
            <a:r>
              <a:rPr lang="en-US" sz="13374">
                <a:solidFill>
                  <a:srgbClr val="EDE8EA"/>
                </a:solidFill>
                <a:latin typeface="Genty"/>
                <a:ea typeface="Genty"/>
                <a:cs typeface="Genty"/>
                <a:sym typeface="Genty"/>
              </a:rPr>
              <a:t>Conclusão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798842" y="9122838"/>
            <a:ext cx="993603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0"/>
              </a:lnSpc>
            </a:pPr>
            <a:r>
              <a:rPr lang="en-US" sz="5000">
                <a:solidFill>
                  <a:srgbClr val="EDE8EA"/>
                </a:solidFill>
                <a:latin typeface="Genty"/>
                <a:ea typeface="Genty"/>
                <a:cs typeface="Genty"/>
                <a:sym typeface="Genty"/>
              </a:rPr>
              <a:t>Obrigada!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4329" y="3578928"/>
            <a:ext cx="9165004" cy="482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4"/>
              </a:lnSpc>
            </a:pPr>
          </a:p>
          <a:p>
            <a:pPr algn="l">
              <a:lnSpc>
                <a:spcPts val="5534"/>
              </a:lnSpc>
            </a:pPr>
            <a:r>
              <a:rPr lang="en-US" sz="3255">
                <a:solidFill>
                  <a:srgbClr val="EDE8EA"/>
                </a:solidFill>
                <a:latin typeface="Open Sauce"/>
                <a:ea typeface="Open Sauce"/>
                <a:cs typeface="Open Sauce"/>
                <a:sym typeface="Open Sauce"/>
              </a:rPr>
              <a:t>Temos uma a</a:t>
            </a:r>
            <a:r>
              <a:rPr lang="en-US" sz="3255">
                <a:solidFill>
                  <a:srgbClr val="EDE8EA"/>
                </a:solidFill>
                <a:latin typeface="Open Sauce"/>
                <a:ea typeface="Open Sauce"/>
                <a:cs typeface="Open Sauce"/>
                <a:sym typeface="Open Sauce"/>
              </a:rPr>
              <a:t>plicação modular estável, persistente e foca</a:t>
            </a:r>
            <a:r>
              <a:rPr lang="en-US" sz="3255">
                <a:solidFill>
                  <a:srgbClr val="EDE8EA"/>
                </a:solidFill>
                <a:latin typeface="Open Sauce"/>
                <a:ea typeface="Open Sauce"/>
                <a:cs typeface="Open Sauce"/>
                <a:sym typeface="Open Sauce"/>
              </a:rPr>
              <a:t>da na experiência do utilizador, que educa as mulheres sobre o seu corpo e dá recomendações de profissionais para os seus sintomas.</a:t>
            </a:r>
          </a:p>
          <a:p>
            <a:pPr algn="l">
              <a:lnSpc>
                <a:spcPts val="5534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965581">
            <a:off x="10862727" y="1837820"/>
            <a:ext cx="6115619" cy="7508014"/>
          </a:xfrm>
          <a:custGeom>
            <a:avLst/>
            <a:gdLst/>
            <a:ahLst/>
            <a:cxnLst/>
            <a:rect r="r" b="b" t="t" l="l"/>
            <a:pathLst>
              <a:path h="7508014" w="6115619">
                <a:moveTo>
                  <a:pt x="0" y="0"/>
                </a:moveTo>
                <a:lnTo>
                  <a:pt x="6115619" y="0"/>
                </a:lnTo>
                <a:lnTo>
                  <a:pt x="6115619" y="7508014"/>
                </a:lnTo>
                <a:lnTo>
                  <a:pt x="0" y="7508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DAHNABqJY04</dc:identifier>
  <dcterms:modified xsi:type="dcterms:W3CDTF">2011-08-01T06:04:30Z</dcterms:modified>
  <cp:revision>1</cp:revision>
  <dc:title>Period Poverty</dc:title>
</cp:coreProperties>
</file>